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1" autoAdjust="0"/>
  </p:normalViewPr>
  <p:slideViewPr>
    <p:cSldViewPr snapToGrid="0" snapToObjects="1">
      <p:cViewPr>
        <p:scale>
          <a:sx n="50" d="100"/>
          <a:sy n="50" d="100"/>
        </p:scale>
        <p:origin x="-1184" y="-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6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4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2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9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4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5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9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1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5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7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78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1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33337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19400" y="2700337"/>
            <a:ext cx="6629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8FAFC"/>
                </a:solidFill>
                <a:latin typeface="Plus Jakarta Sans"/>
              </a:rPr>
              <a:t>Python </a:t>
            </a:r>
            <a:r>
              <a:rPr lang="en-GB" sz="4800" b="1" i="0" u="none" dirty="0" smtClean="0">
                <a:solidFill>
                  <a:srgbClr val="F8FAFC"/>
                </a:solidFill>
                <a:latin typeface="Plus Jakarta Sans"/>
              </a:rPr>
              <a:t>Basics 2.0</a:t>
            </a:r>
            <a:endParaRPr sz="48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19400" y="3652837"/>
            <a:ext cx="662940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2400" b="0" i="0" u="none" dirty="0">
                <a:solidFill>
                  <a:srgbClr val="CBD5E1"/>
                </a:solidFill>
                <a:latin typeface="Plus Jakarta Sans"/>
              </a:rPr>
              <a:t>Strings, Lists, and Control Flow Essentials</a:t>
            </a:r>
          </a:p>
        </p:txBody>
      </p:sp>
      <p:sp>
        <p:nvSpPr>
          <p:cNvPr id="5" name="Text 7"/>
          <p:cNvSpPr/>
          <p:nvPr/>
        </p:nvSpPr>
        <p:spPr>
          <a:xfrm>
            <a:off x="2578100" y="5391285"/>
            <a:ext cx="6870700" cy="1466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Shivank Pandey 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CSE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RIMT, Bareilly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825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76525"/>
            <a:ext cx="5419725" cy="223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6525"/>
            <a:ext cx="5419725" cy="2238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971925"/>
            <a:ext cx="4829175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971925"/>
            <a:ext cx="4829175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2971800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lus Jakarta Sans SemiBold"/>
              </a:rPr>
              <a:t>Single &amp; Double Quotes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371850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Strings can be enclosed in single (`'...'`) or double (`"..."`) quotes interchangeably. Both behave identically</a:t>
            </a: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71800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38BDF8"/>
                </a:solidFill>
                <a:latin typeface="Plus Jakarta Sans SemiBold"/>
              </a:rPr>
              <a:t>Multiline 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371850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Triple quotes (`'''...'''` or `"""..."""`) allow strings to span multiple lines, preserving line breaks.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String Creation &amp; Quotes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863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386137"/>
            <a:ext cx="5419725" cy="64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12645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2128837"/>
            <a:ext cx="5229225" cy="48577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Zero-Based Indexing: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The first character is at index `0`, and negative indices count from the end (`-1`).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707481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2709862"/>
            <a:ext cx="5229225" cy="24288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Slicing Syntax: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Extract substrings using `string[</a:t>
            </a:r>
            <a:r>
              <a:rPr sz="1275" b="0" i="0" u="none" dirty="0" err="1">
                <a:solidFill>
                  <a:srgbClr val="94A3B8"/>
                </a:solidFill>
                <a:latin typeface="Plus Jakarta Sans"/>
              </a:rPr>
              <a:t>start:end:step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]`.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045618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048000"/>
            <a:ext cx="5229225" cy="24288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Immutability: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Strings cannot be modified in place once created.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38BDF8"/>
                </a:solidFill>
                <a:latin typeface="Plus Jakarta Sans"/>
              </a:rPr>
              <a:t>String Indexing &amp; Slicing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4900" y="1422400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5775" y="2578893"/>
          <a:ext cx="11220448" cy="2433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927"/>
                <a:gridCol w="3122711"/>
                <a:gridCol w="3819525"/>
                <a:gridCol w="1189285"/>
              </a:tblGrid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.upper()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Converts to uppercase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"abc".upper()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"ABC"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.lower()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Converts to lowercase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"XYZ".lower()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"xyz"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.strip()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Removes whitespace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 hi ".strip()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"hi"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729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.replace(old, new)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Substitutes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"cat".replace("c", "b")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"bat"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85775" y="3045618"/>
            <a:ext cx="30889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74702" y="3045618"/>
            <a:ext cx="31227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97414" y="3045618"/>
            <a:ext cx="38195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16939" y="3045618"/>
            <a:ext cx="11892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5775" y="3536156"/>
            <a:ext cx="30889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74702" y="3536156"/>
            <a:ext cx="31227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97414" y="3536156"/>
            <a:ext cx="38195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516939" y="3536156"/>
            <a:ext cx="11892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5775" y="4026693"/>
            <a:ext cx="30889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74702" y="4026693"/>
            <a:ext cx="31227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97414" y="4026693"/>
            <a:ext cx="38195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16939" y="4026693"/>
            <a:ext cx="11892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5775" y="4517231"/>
            <a:ext cx="30889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74702" y="4517231"/>
            <a:ext cx="312271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97414" y="4517231"/>
            <a:ext cx="38195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6939" y="4517231"/>
            <a:ext cx="11892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Common String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78906"/>
            <a:ext cx="3549699" cy="2233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678906"/>
            <a:ext cx="3549699" cy="2233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674" y="2678906"/>
            <a:ext cx="3549699" cy="2233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4125" y="3005137"/>
            <a:ext cx="177022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E2E8F0"/>
                </a:solidFill>
                <a:latin typeface="Plus Jakarta Sans SemiBold"/>
              </a:rPr>
              <a:t>Concatenation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Combine strings together easily using the `+` arithmetic operator or repeat them with `*`.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3074" y="3005137"/>
            <a:ext cx="1460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E2E8F0"/>
                </a:solidFill>
                <a:latin typeface="Plus Jakarta Sans SemiBold"/>
              </a:rPr>
              <a:t>Membership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Check if a substring exists inside another text string using the `in` operator.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2357" y="2998787"/>
            <a:ext cx="10701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E2E8F0"/>
                </a:solidFill>
                <a:latin typeface="Plus Jakarta Sans SemiBold"/>
              </a:rPr>
              <a:t>f-Strings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Embed variables directly inside string literals cleanly using formatted string syntax.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974181"/>
            <a:ext cx="266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74181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974181"/>
            <a:ext cx="3810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Advanced String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76525"/>
            <a:ext cx="5419725" cy="223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6525"/>
            <a:ext cx="5419725" cy="2238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971925"/>
            <a:ext cx="4829175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971925"/>
            <a:ext cx="4829175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2971800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Mutable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371850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Lists are ordered collections enclosed in square brackets `[]` that can hold mixed data types and be altered after creation.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71800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List Indexing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371850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Just like strings, list elements are accessed via integer index numbers starting from `0` for the first element.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Introduction to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5775" y="2578893"/>
          <a:ext cx="11220449" cy="2433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0833"/>
                <a:gridCol w="4387155"/>
                <a:gridCol w="3262461"/>
              </a:tblGrid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Code 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.append(item)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Adds an item to the 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nums.append(5)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.insert(index, item)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Inserts item at position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nums.insert(0, 10)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72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.remove(item)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Removes first matching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nums.remove(5)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729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.pop(index)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Removes &amp; returns item by index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nums.pop()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85775" y="3045618"/>
            <a:ext cx="35708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56608" y="3045618"/>
            <a:ext cx="43871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43763" y="3045618"/>
            <a:ext cx="32624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5775" y="3536156"/>
            <a:ext cx="35708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56608" y="3536156"/>
            <a:ext cx="43871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43763" y="3536156"/>
            <a:ext cx="32624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5775" y="4026693"/>
            <a:ext cx="35708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56608" y="4026693"/>
            <a:ext cx="43871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43763" y="4026693"/>
            <a:ext cx="32624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5775" y="4517231"/>
            <a:ext cx="357083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56608" y="4517231"/>
            <a:ext cx="43871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43763" y="4517231"/>
            <a:ext cx="32624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List Modification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863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57462"/>
            <a:ext cx="5419725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5690711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List Slicing &amp;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1219200"/>
            <a:ext cx="569071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Slice &amp; Sort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1619250"/>
            <a:ext cx="54197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You can slice lists just like strings to grab subsets of data ranges. Use `.sort()` to arrange contents in ascending order or `.reverse()` to flip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78906"/>
            <a:ext cx="3549699" cy="2233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678906"/>
            <a:ext cx="3549699" cy="2233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674" y="2678906"/>
            <a:ext cx="3549699" cy="2233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3421856"/>
            <a:ext cx="2000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Create new lists concisely in a single readable line using loop logic inside brackets.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421856"/>
            <a:ext cx="158019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Copying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Use slicing (`[:]`) or `.copy()` to duplicate lists without referencing the same memory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324" y="3421856"/>
            <a:ext cx="14301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Nested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Lists can contain other lists as elements, creating multi-dimensional matrices or tables.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974181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74181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974181"/>
            <a:ext cx="3429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Advanced List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95550"/>
            <a:ext cx="5419725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95550"/>
            <a:ext cx="5419725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790950"/>
            <a:ext cx="482917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790950"/>
            <a:ext cx="4829175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2790825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The `if` &amp; `elif`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190875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Execute blocks of code conditionally when boolean expressions evaluate to true. Chain conditions with `elif`.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790825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The `else`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190875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Provide a fallback block that executes only if all preceding `if` and `elif` condition checks fail.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Conditional Statements: if / elif / else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871912"/>
            <a:ext cx="5419725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28837"/>
            <a:ext cx="5419725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12645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2128837"/>
            <a:ext cx="5229225" cy="48577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Hierarchical Checks: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Place conditional blocks inside other conditional blocks to evaluate multi-step scenarios.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707481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2709862"/>
            <a:ext cx="5229225" cy="48577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Indentation Rule: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Python relies entirely on consistent whitespace indentation to match block nesting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28850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290887"/>
            <a:ext cx="5229225" cy="48577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Readability: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Keep nesting shallow where possible to maintain clean, easy-to-maintain scripts.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138362"/>
            <a:ext cx="5400675" cy="3314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Nested Conditionals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86037"/>
            <a:ext cx="5419725" cy="2419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6037"/>
            <a:ext cx="5419725" cy="2419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881437"/>
            <a:ext cx="4829175" cy="828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881437"/>
            <a:ext cx="4829175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2881312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Iterating Over Iterables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281362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The `for` loop iterates over items of any sequence, such as a list, string, or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881312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Using `range()`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281362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Generate sequences of numbers automatically using the built-in `range(start, stop, step)`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The `for`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95550"/>
            <a:ext cx="5419725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95550"/>
            <a:ext cx="5419725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790950"/>
            <a:ext cx="482917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790950"/>
            <a:ext cx="4829175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2790825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Conditional Iteration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190875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 `while` loop runs continuously as long as its governing boolean condition evaluates to `True`.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790825"/>
            <a:ext cx="5070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Avoiding Infinite Loops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190875"/>
            <a:ext cx="48291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Always ensure that variables inside the loop condition update properly so the loop eventually terminates.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The `while` 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5775" y="2824162"/>
          <a:ext cx="11220449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986"/>
                <a:gridCol w="4663678"/>
                <a:gridCol w="4281785"/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8BDF8"/>
                          </a:solidFill>
                          <a:latin typeface="Plus Jakarta Sans SemiBold"/>
                        </a:rPr>
                        <a:t>Statement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Code 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break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Exits the loop immediately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if x == 5: break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continue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Skips to the next iteration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if x == 2: continue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94A3B8"/>
                          </a:solidFill>
                          <a:latin typeface="Plus Jakarta Sans"/>
                        </a:rPr>
                        <a:t>Null operation placeholder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if x &lt; 0: 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85775" y="3290887"/>
            <a:ext cx="22749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60761" y="3290887"/>
            <a:ext cx="4663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24439" y="3290887"/>
            <a:ext cx="4281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5775" y="3781425"/>
            <a:ext cx="22749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60761" y="3781425"/>
            <a:ext cx="4663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24439" y="3781425"/>
            <a:ext cx="4281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5775" y="4271962"/>
            <a:ext cx="22749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0761" y="4271962"/>
            <a:ext cx="46636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24439" y="4271962"/>
            <a:ext cx="42817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Loop Control Statements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78906"/>
            <a:ext cx="3549699" cy="2233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678906"/>
            <a:ext cx="3549699" cy="2233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674" y="2678906"/>
            <a:ext cx="3549699" cy="2233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3421856"/>
            <a:ext cx="169021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1. Process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Clean and extract substrings from input data strings securely using string methods.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874" y="3421856"/>
            <a:ext cx="271033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2. Organize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821906"/>
            <a:ext cx="30543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Store results in structured lists and update items dynamically during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324" y="3421856"/>
            <a:ext cx="17802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lus Jakarta Sans SemiBold"/>
              </a:rPr>
              <a:t>3. Control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821906"/>
            <a:ext cx="305439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Use conditional checks and loops to drive robust decision trees in your apps.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974181"/>
            <a:ext cx="2286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974181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974181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Putting It All Together</a:t>
            </a:r>
          </a:p>
        </p:txBody>
      </p:sp>
      <p:sp>
        <p:nvSpPr>
          <p:cNvPr id="16" name="Shape 10"/>
          <p:cNvSpPr/>
          <p:nvPr/>
        </p:nvSpPr>
        <p:spPr>
          <a:xfrm>
            <a:off x="444549" y="56540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17" name="TextBox 16"/>
          <p:cNvSpPr txBox="1"/>
          <p:nvPr/>
        </p:nvSpPr>
        <p:spPr>
          <a:xfrm>
            <a:off x="631824" y="5814060"/>
            <a:ext cx="7661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Queries: mail to </a:t>
            </a:r>
            <a:r>
              <a:rPr lang="en-US" sz="2400" b="1" dirty="0" smtClean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ershivank2012@gmail.com</a:t>
            </a:r>
            <a:endParaRPr lang="en-US" sz="2400" b="1" dirty="0">
              <a:solidFill>
                <a:srgbClr val="FFD43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733</Words>
  <Application>Microsoft Office PowerPoint</Application>
  <PresentationFormat>Custom</PresentationFormat>
  <Paragraphs>119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alok pandey</cp:lastModifiedBy>
  <cp:revision>5</cp:revision>
  <dcterms:created xsi:type="dcterms:W3CDTF">2013-01-27T09:14:16Z</dcterms:created>
  <dcterms:modified xsi:type="dcterms:W3CDTF">2026-08-03T06:51:28Z</dcterms:modified>
  <cp:category/>
</cp:coreProperties>
</file>