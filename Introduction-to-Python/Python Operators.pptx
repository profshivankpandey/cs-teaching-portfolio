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5" d="100"/>
          <a:sy n="85" d="100"/>
        </p:scale>
        <p:origin x="-664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1954" y="704538"/>
            <a:ext cx="7315200" cy="3793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/>
              <a:t>Mastering Python Operators</a:t>
            </a:r>
          </a:p>
          <a:p>
            <a:pPr algn="ctr">
              <a:spcBef>
                <a:spcPts val="1500"/>
              </a:spcBef>
              <a:defRPr sz="1800">
                <a:solidFill>
                  <a:srgbClr val="C8D2E6"/>
                </a:solidFill>
                <a:latin typeface="Arial"/>
              </a:defRPr>
            </a:pPr>
            <a:r>
              <a:rPr dirty="0"/>
              <a:t>Understanding Arithmetic, Assignment, and Comparison Operators</a:t>
            </a:r>
          </a:p>
          <a:p>
            <a:pPr algn="ctr"/>
            <a:endParaRPr lang="en-US" sz="1400" b="1" dirty="0" smtClean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dirty="0" smtClean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dirty="0" smtClean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dirty="0" smtClean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400" b="1" dirty="0" smtClean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Shivank </a:t>
            </a: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Pandey  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Department of CSE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RIMT, </a:t>
            </a:r>
            <a:r>
              <a:rPr lang="en-US" sz="16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Bareilly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What is an Operator?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6505F"/>
                </a:solidFill>
              </a:defRPr>
            </a:pPr>
            <a:r>
              <a:t>• Definition: Special symbols in Python that carry out arithmetic and logical computations.</a:t>
            </a:r>
          </a:p>
          <a:p>
            <a:pPr>
              <a:spcBef>
                <a:spcPts val="1000"/>
              </a:spcBef>
              <a:defRPr sz="1600" b="1">
                <a:solidFill>
                  <a:srgbClr val="1A2B4C"/>
                </a:solidFill>
              </a:defRPr>
            </a:pPr>
            <a:r>
              <a:t>• Core Terminology:</a:t>
            </a:r>
          </a:p>
          <a:p>
            <a:pPr>
              <a:defRPr sz="1400">
                <a:solidFill>
                  <a:srgbClr val="46505F"/>
                </a:solidFill>
              </a:defRPr>
            </a:pPr>
            <a:r>
              <a:t>   - Operand: The value or variable on which the operator is applied.</a:t>
            </a:r>
          </a:p>
          <a:p>
            <a:pPr>
              <a:defRPr sz="1400">
                <a:solidFill>
                  <a:srgbClr val="46505F"/>
                </a:solidFill>
              </a:defRPr>
            </a:pPr>
            <a:r>
              <a:t>   - Example: In '5 + 3', '+' is the operator, while '5' and '3' are operands.</a:t>
            </a:r>
          </a:p>
          <a:p>
            <a:pPr>
              <a:spcBef>
                <a:spcPts val="1000"/>
              </a:spcBef>
              <a:defRPr sz="1600" b="1">
                <a:solidFill>
                  <a:srgbClr val="1A2B4C"/>
                </a:solidFill>
              </a:defRPr>
            </a:pPr>
            <a:r>
              <a:t>• Major Categories of Operators in Python:</a:t>
            </a:r>
          </a:p>
          <a:p>
            <a:pPr>
              <a:defRPr sz="1400">
                <a:solidFill>
                  <a:srgbClr val="46505F"/>
                </a:solidFill>
              </a:defRPr>
            </a:pPr>
            <a:r>
              <a:t>   - 1. Arithmetic Operators</a:t>
            </a:r>
          </a:p>
          <a:p>
            <a:pPr>
              <a:defRPr sz="1400">
                <a:solidFill>
                  <a:srgbClr val="46505F"/>
                </a:solidFill>
              </a:defRPr>
            </a:pPr>
            <a:r>
              <a:t>   - 2. Assignment Operators</a:t>
            </a:r>
          </a:p>
          <a:p>
            <a:pPr>
              <a:defRPr sz="1400">
                <a:solidFill>
                  <a:srgbClr val="46505F"/>
                </a:solidFill>
              </a:defRPr>
            </a:pPr>
            <a:r>
              <a:t>   - 3. Comparison Operators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Arithmetic Operators (Basic)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212760"/>
              </p:ext>
            </p:extLst>
          </p:nvPr>
        </p:nvGraphicFramePr>
        <p:xfrm>
          <a:off x="731520" y="1097280"/>
          <a:ext cx="7680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Operator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Example (10 &amp; 3)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Adds values on either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10 + 3 = 13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Subtraction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Subtracts right from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10 - 3 = 7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Multiplication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Multiplies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10 * 3 = 30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Divides left by right (float)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 dirty="0"/>
                        <a:t>10 / 3 = 3.3333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Advanced Arithmetic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174767"/>
              </p:ext>
            </p:extLst>
          </p:nvPr>
        </p:nvGraphicFramePr>
        <p:xfrm>
          <a:off x="731520" y="1097280"/>
          <a:ext cx="7680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Operator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Example (10 &amp; 3)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Floor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Division resulting in whole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10 // 3 = 3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Modulus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Returns remainder of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10 % 3 = 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Exponentiation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Raises left to power of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 dirty="0"/>
                        <a:t>10 ** 3 = 1000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B4C"/>
                </a:solidFill>
              </a:defRPr>
            </a:pPr>
            <a:r>
              <a:t>Quick Code Snippet: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print(10 // 3)  # Output: 3</a:t>
            </a:r>
            <a:br/>
            <a:r>
              <a:t>print(10 % 3)   # Output: 1</a:t>
            </a:r>
            <a:br/>
            <a:r>
              <a:t>print(2 ** 4)   # Output: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Assignment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150257"/>
              </p:ext>
            </p:extLst>
          </p:nvPr>
        </p:nvGraphicFramePr>
        <p:xfrm>
          <a:off x="731520" y="1097280"/>
          <a:ext cx="7680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Operator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Equivalent Expression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x =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Assigns value of right side to left variable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+=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x = x +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Adds right value to variable and assigns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-=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x = x -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Subtracts right value from variable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*=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x = x *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 dirty="0"/>
                        <a:t>Multiplies variable by right value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Advanced Assignment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12350"/>
              </p:ext>
            </p:extLst>
          </p:nvPr>
        </p:nvGraphicFramePr>
        <p:xfrm>
          <a:off x="731520" y="1097280"/>
          <a:ext cx="7680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Operator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Equivalent Expression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x = x /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Divides variable and assigns result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//=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x = x //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Floor divides variable and assigns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%=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x = x %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 dirty="0"/>
                        <a:t>Calculates modulus and assigns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474720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B4C"/>
                </a:solidFill>
              </a:defRPr>
            </a:pPr>
            <a:r>
              <a:t>Compound Assignment Code Example: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score = 10</a:t>
            </a:r>
            <a:br/>
            <a:r>
              <a:t>score += 5  # Equivalent to score = 10 + 5</a:t>
            </a:r>
            <a:br/>
            <a:r>
              <a:t>print(score)  # Output: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Comparison (Relational)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166418"/>
              </p:ext>
            </p:extLst>
          </p:nvPr>
        </p:nvGraphicFramePr>
        <p:xfrm>
          <a:off x="731520" y="1097280"/>
          <a:ext cx="7680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69494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Operator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Example (a=5, b=10)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a ==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False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Not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a !=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True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Greater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a &gt;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False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Less 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a &lt;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 dirty="0"/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Comparison Operators (Contd.)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115849"/>
              </p:ext>
            </p:extLst>
          </p:nvPr>
        </p:nvGraphicFramePr>
        <p:xfrm>
          <a:off x="731520" y="1097280"/>
          <a:ext cx="7680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6705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Operator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Example (a=5, b=5)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A2B4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Greater than or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a &gt;=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True</a:t>
                      </a:r>
                    </a:p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Less than or equal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/>
                        <a:t>a &lt;=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6505F"/>
                          </a:solidFill>
                        </a:defRPr>
                      </a:pPr>
                      <a:r>
                        <a:rPr b="1" dirty="0"/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2B4C"/>
                </a:solidFill>
              </a:defRPr>
            </a:pPr>
            <a:r>
              <a:t>Decision Making Example:</a:t>
            </a:r>
          </a:p>
          <a:p>
            <a:pPr>
              <a:defRPr sz="1200">
                <a:solidFill>
                  <a:srgbClr val="46505F"/>
                </a:solidFill>
              </a:defRPr>
            </a:pPr>
            <a:r>
              <a:t>age = 18</a:t>
            </a:r>
            <a:br/>
            <a:r>
              <a:t>if age &gt;= 18:</a:t>
            </a:r>
            <a:br/>
            <a:r>
              <a:t>    print('Eligible to vote')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Operator Precedence (Order of Evaluation)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6505F"/>
                </a:solidFill>
              </a:defRPr>
            </a:pPr>
            <a:r>
              <a:t>Python evaluates operators based on strict precedence rules (similar to BODMAS/PEMDAS):</a:t>
            </a:r>
          </a:p>
          <a:p>
            <a:pPr>
              <a:spcBef>
                <a:spcPts val="400"/>
              </a:spcBef>
              <a:defRPr sz="1300">
                <a:solidFill>
                  <a:srgbClr val="1A2B4C"/>
                </a:solidFill>
              </a:defRPr>
            </a:pPr>
            <a:r>
              <a:t>1. () - Parentheses (Highest priority)</a:t>
            </a:r>
          </a:p>
          <a:p>
            <a:pPr>
              <a:spcBef>
                <a:spcPts val="400"/>
              </a:spcBef>
              <a:defRPr sz="1300">
                <a:solidFill>
                  <a:srgbClr val="1A2B4C"/>
                </a:solidFill>
              </a:defRPr>
            </a:pPr>
            <a:r>
              <a:t>2. ** - Exponentiation</a:t>
            </a:r>
          </a:p>
          <a:p>
            <a:pPr>
              <a:spcBef>
                <a:spcPts val="400"/>
              </a:spcBef>
              <a:defRPr sz="1300">
                <a:solidFill>
                  <a:srgbClr val="1A2B4C"/>
                </a:solidFill>
              </a:defRPr>
            </a:pPr>
            <a:r>
              <a:t>3. +x, -x, ~x - Unary plus, minus, bitwise NOT</a:t>
            </a:r>
          </a:p>
          <a:p>
            <a:pPr>
              <a:spcBef>
                <a:spcPts val="400"/>
              </a:spcBef>
              <a:defRPr sz="1300">
                <a:solidFill>
                  <a:srgbClr val="1A2B4C"/>
                </a:solidFill>
              </a:defRPr>
            </a:pPr>
            <a:r>
              <a:t>4. *, /, //, % - Multiplication, Division, Modulus</a:t>
            </a:r>
          </a:p>
          <a:p>
            <a:pPr>
              <a:spcBef>
                <a:spcPts val="400"/>
              </a:spcBef>
              <a:defRPr sz="1300">
                <a:solidFill>
                  <a:srgbClr val="1A2B4C"/>
                </a:solidFill>
              </a:defRPr>
            </a:pPr>
            <a:r>
              <a:t>5. +, - - Addition, Subtraction</a:t>
            </a:r>
          </a:p>
          <a:p>
            <a:pPr>
              <a:spcBef>
                <a:spcPts val="400"/>
              </a:spcBef>
              <a:defRPr sz="1300">
                <a:solidFill>
                  <a:srgbClr val="1A2B4C"/>
                </a:solidFill>
              </a:defRPr>
            </a:pPr>
            <a:r>
              <a:t>6. ==, !=, &gt;, &lt;, &gt;=, &lt;= - Comparison Operators (Lowest among these categories)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Summary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>
                <a:solidFill>
                  <a:srgbClr val="46505F"/>
                </a:solidFill>
              </a:defRPr>
            </a:pPr>
            <a:r>
              <a:t>• Arithmetic Operators drive computational and mathematical calculations.</a:t>
            </a:r>
          </a:p>
          <a:p>
            <a:pPr>
              <a:spcBef>
                <a:spcPts val="1000"/>
              </a:spcBef>
              <a:defRPr sz="1500">
                <a:solidFill>
                  <a:srgbClr val="46505F"/>
                </a:solidFill>
              </a:defRPr>
            </a:pPr>
            <a:r>
              <a:t>• Assignment Operators streamline code writing via shorthand notation (+=, -=, etc.).</a:t>
            </a:r>
          </a:p>
          <a:p>
            <a:pPr>
              <a:spcBef>
                <a:spcPts val="1000"/>
              </a:spcBef>
              <a:defRPr sz="1500">
                <a:solidFill>
                  <a:srgbClr val="46505F"/>
                </a:solidFill>
              </a:defRPr>
            </a:pPr>
            <a:r>
              <a:t>• Comparison Operators enable intelligent program flow by evaluating conditions to True or False.</a:t>
            </a:r>
          </a:p>
          <a:p>
            <a:pPr>
              <a:spcBef>
                <a:spcPts val="1000"/>
              </a:spcBef>
              <a:defRPr sz="1500">
                <a:solidFill>
                  <a:srgbClr val="46505F"/>
                </a:solidFill>
              </a:defRPr>
            </a:pPr>
            <a:r>
              <a:t>• Best Practice: Always use parentheses () to explicitly define evaluation order in complex expressions to improve code readability.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57350"/>
            <a:ext cx="7315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smtClean="0"/>
              <a:t>Thank You!</a:t>
            </a:r>
            <a:endParaRPr lang="en-GB" dirty="0" smtClean="0"/>
          </a:p>
          <a:p>
            <a:pPr algn="ctr">
              <a:defRPr sz="4000" b="1">
                <a:solidFill>
                  <a:srgbClr val="FFFFFF"/>
                </a:solidFill>
              </a:defRPr>
            </a:pPr>
            <a:endParaRPr lang="en-GB" dirty="0" smtClean="0"/>
          </a:p>
          <a:p>
            <a:pPr algn="ctr">
              <a:defRPr sz="4000" b="1">
                <a:solidFill>
                  <a:srgbClr val="FFFFFF"/>
                </a:solidFill>
              </a:defRPr>
            </a:pPr>
            <a:endParaRPr dirty="0" smtClean="0"/>
          </a:p>
          <a:p>
            <a:pPr algn="ctr"/>
            <a:r>
              <a:rPr lang="en-US" sz="2000" b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Queries: mail to ershivank2012@gmail.com</a:t>
            </a:r>
            <a:endParaRPr lang="en-US" sz="2000" b="1" dirty="0">
              <a:solidFill>
                <a:srgbClr val="FFD43B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575</Words>
  <Application>Microsoft Office PowerPoint</Application>
  <PresentationFormat>On-screen Show (16:9)</PresentationFormat>
  <Paragraphs>147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alok pandey</cp:lastModifiedBy>
  <cp:revision>3</cp:revision>
  <dcterms:created xsi:type="dcterms:W3CDTF">2013-01-27T09:14:16Z</dcterms:created>
  <dcterms:modified xsi:type="dcterms:W3CDTF">2026-08-04T09:55:00Z</dcterms:modified>
  <cp:category/>
</cp:coreProperties>
</file>